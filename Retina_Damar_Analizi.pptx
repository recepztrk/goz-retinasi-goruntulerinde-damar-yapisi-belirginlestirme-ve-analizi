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35F8C3-6516-154C-9DEA-199E4311B06A}" v="19" dt="2025-12-30T04:43:40.7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56"/>
    <p:restoredTop sz="94610"/>
  </p:normalViewPr>
  <p:slideViewPr>
    <p:cSldViewPr snapToGrid="0" snapToObjects="1">
      <p:cViewPr>
        <p:scale>
          <a:sx n="111" d="100"/>
          <a:sy n="111" d="100"/>
        </p:scale>
        <p:origin x="65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cep öztürk" userId="d7fba041-7d4e-4368-beab-86086909a242" providerId="ADAL" clId="{309C8BC0-029D-58A2-8EF0-19F9291831BA}"/>
    <pc:docChg chg="undo custSel delSld modSld">
      <pc:chgData name="recep öztürk" userId="d7fba041-7d4e-4368-beab-86086909a242" providerId="ADAL" clId="{309C8BC0-029D-58A2-8EF0-19F9291831BA}" dt="2025-12-30T07:50:38.113" v="105" actId="2696"/>
      <pc:docMkLst>
        <pc:docMk/>
      </pc:docMkLst>
      <pc:sldChg chg="addSp modSp mod">
        <pc:chgData name="recep öztürk" userId="d7fba041-7d4e-4368-beab-86086909a242" providerId="ADAL" clId="{309C8BC0-029D-58A2-8EF0-19F9291831BA}" dt="2025-12-30T03:06:29.069" v="52" actId="20577"/>
        <pc:sldMkLst>
          <pc:docMk/>
          <pc:sldMk cId="0" sldId="256"/>
        </pc:sldMkLst>
        <pc:spChg chg="mod">
          <ac:chgData name="recep öztürk" userId="d7fba041-7d4e-4368-beab-86086909a242" providerId="ADAL" clId="{309C8BC0-029D-58A2-8EF0-19F9291831BA}" dt="2025-12-30T03:02:51.354" v="4"/>
          <ac:spMkLst>
            <pc:docMk/>
            <pc:sldMk cId="0" sldId="256"/>
            <ac:spMk id="2" creationId="{00000000-0000-0000-0000-000000000000}"/>
          </ac:spMkLst>
        </pc:spChg>
        <pc:spChg chg="mod">
          <ac:chgData name="recep öztürk" userId="d7fba041-7d4e-4368-beab-86086909a242" providerId="ADAL" clId="{309C8BC0-029D-58A2-8EF0-19F9291831BA}" dt="2025-12-30T03:05:14.606" v="28" actId="113"/>
          <ac:spMkLst>
            <pc:docMk/>
            <pc:sldMk cId="0" sldId="256"/>
            <ac:spMk id="3" creationId="{00000000-0000-0000-0000-000000000000}"/>
          </ac:spMkLst>
        </pc:spChg>
        <pc:spChg chg="mod">
          <ac:chgData name="recep öztürk" userId="d7fba041-7d4e-4368-beab-86086909a242" providerId="ADAL" clId="{309C8BC0-029D-58A2-8EF0-19F9291831BA}" dt="2025-12-30T03:06:29.069" v="52" actId="20577"/>
          <ac:spMkLst>
            <pc:docMk/>
            <pc:sldMk cId="0" sldId="256"/>
            <ac:spMk id="5" creationId="{00000000-0000-0000-0000-000000000000}"/>
          </ac:spMkLst>
        </pc:spChg>
        <pc:spChg chg="add mod">
          <ac:chgData name="recep öztürk" userId="d7fba041-7d4e-4368-beab-86086909a242" providerId="ADAL" clId="{309C8BC0-029D-58A2-8EF0-19F9291831BA}" dt="2025-12-30T03:05:34.823" v="30" actId="404"/>
          <ac:spMkLst>
            <pc:docMk/>
            <pc:sldMk cId="0" sldId="256"/>
            <ac:spMk id="11" creationId="{2048A7EA-3DA5-CC83-4A72-DA1434A76E8C}"/>
          </ac:spMkLst>
        </pc:spChg>
      </pc:sldChg>
      <pc:sldChg chg="addSp modSp mod">
        <pc:chgData name="recep öztürk" userId="d7fba041-7d4e-4368-beab-86086909a242" providerId="ADAL" clId="{309C8BC0-029D-58A2-8EF0-19F9291831BA}" dt="2025-12-30T03:08:24.984" v="85" actId="20577"/>
        <pc:sldMkLst>
          <pc:docMk/>
          <pc:sldMk cId="0" sldId="257"/>
        </pc:sldMkLst>
        <pc:spChg chg="mod">
          <ac:chgData name="recep öztürk" userId="d7fba041-7d4e-4368-beab-86086909a242" providerId="ADAL" clId="{309C8BC0-029D-58A2-8EF0-19F9291831BA}" dt="2025-12-30T03:08:24.984" v="85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recep öztürk" userId="d7fba041-7d4e-4368-beab-86086909a242" providerId="ADAL" clId="{309C8BC0-029D-58A2-8EF0-19F9291831BA}" dt="2025-12-30T03:02:18.823" v="2" actId="14100"/>
          <ac:spMkLst>
            <pc:docMk/>
            <pc:sldMk cId="0" sldId="257"/>
            <ac:spMk id="11" creationId="{00000000-0000-0000-0000-000000000000}"/>
          </ac:spMkLst>
        </pc:spChg>
        <pc:spChg chg="add">
          <ac:chgData name="recep öztürk" userId="d7fba041-7d4e-4368-beab-86086909a242" providerId="ADAL" clId="{309C8BC0-029D-58A2-8EF0-19F9291831BA}" dt="2025-12-30T03:07:26.356" v="56"/>
          <ac:spMkLst>
            <pc:docMk/>
            <pc:sldMk cId="0" sldId="257"/>
            <ac:spMk id="14" creationId="{E7D158FC-82E3-0419-92CB-F97DED995427}"/>
          </ac:spMkLst>
        </pc:spChg>
        <pc:spChg chg="add mod">
          <ac:chgData name="recep öztürk" userId="d7fba041-7d4e-4368-beab-86086909a242" providerId="ADAL" clId="{309C8BC0-029D-58A2-8EF0-19F9291831BA}" dt="2025-12-30T03:07:30.240" v="58"/>
          <ac:spMkLst>
            <pc:docMk/>
            <pc:sldMk cId="0" sldId="257"/>
            <ac:spMk id="15" creationId="{D1E16A80-BD9A-11E7-115A-DA89ED28F0F0}"/>
          </ac:spMkLst>
        </pc:spChg>
        <pc:spChg chg="add">
          <ac:chgData name="recep öztürk" userId="d7fba041-7d4e-4368-beab-86086909a242" providerId="ADAL" clId="{309C8BC0-029D-58A2-8EF0-19F9291831BA}" dt="2025-12-30T03:07:34.520" v="59"/>
          <ac:spMkLst>
            <pc:docMk/>
            <pc:sldMk cId="0" sldId="257"/>
            <ac:spMk id="16" creationId="{08555572-A319-052F-BD11-941B824F9EC1}"/>
          </ac:spMkLst>
        </pc:spChg>
      </pc:sldChg>
      <pc:sldChg chg="modSp mod">
        <pc:chgData name="recep öztürk" userId="d7fba041-7d4e-4368-beab-86086909a242" providerId="ADAL" clId="{309C8BC0-029D-58A2-8EF0-19F9291831BA}" dt="2025-12-30T03:53:30.817" v="86" actId="1076"/>
        <pc:sldMkLst>
          <pc:docMk/>
          <pc:sldMk cId="0" sldId="259"/>
        </pc:sldMkLst>
        <pc:spChg chg="mod">
          <ac:chgData name="recep öztürk" userId="d7fba041-7d4e-4368-beab-86086909a242" providerId="ADAL" clId="{309C8BC0-029D-58A2-8EF0-19F9291831BA}" dt="2025-12-30T03:53:30.817" v="86" actId="1076"/>
          <ac:spMkLst>
            <pc:docMk/>
            <pc:sldMk cId="0" sldId="259"/>
            <ac:spMk id="15" creationId="{00000000-0000-0000-0000-000000000000}"/>
          </ac:spMkLst>
        </pc:spChg>
      </pc:sldChg>
      <pc:sldChg chg="delSp mod">
        <pc:chgData name="recep öztürk" userId="d7fba041-7d4e-4368-beab-86086909a242" providerId="ADAL" clId="{309C8BC0-029D-58A2-8EF0-19F9291831BA}" dt="2025-12-30T03:55:28.338" v="87" actId="478"/>
        <pc:sldMkLst>
          <pc:docMk/>
          <pc:sldMk cId="0" sldId="262"/>
        </pc:sldMkLst>
        <pc:spChg chg="del">
          <ac:chgData name="recep öztürk" userId="d7fba041-7d4e-4368-beab-86086909a242" providerId="ADAL" clId="{309C8BC0-029D-58A2-8EF0-19F9291831BA}" dt="2025-12-30T03:55:28.338" v="87" actId="478"/>
          <ac:spMkLst>
            <pc:docMk/>
            <pc:sldMk cId="0" sldId="262"/>
            <ac:spMk id="43" creationId="{00000000-0000-0000-0000-000000000000}"/>
          </ac:spMkLst>
        </pc:spChg>
      </pc:sldChg>
      <pc:sldChg chg="addSp modSp">
        <pc:chgData name="recep öztürk" userId="d7fba041-7d4e-4368-beab-86086909a242" providerId="ADAL" clId="{309C8BC0-029D-58A2-8EF0-19F9291831BA}" dt="2025-12-30T04:43:40.752" v="94" actId="14100"/>
        <pc:sldMkLst>
          <pc:docMk/>
          <pc:sldMk cId="0" sldId="268"/>
        </pc:sldMkLst>
        <pc:picChg chg="add mod">
          <ac:chgData name="recep öztürk" userId="d7fba041-7d4e-4368-beab-86086909a242" providerId="ADAL" clId="{309C8BC0-029D-58A2-8EF0-19F9291831BA}" dt="2025-12-30T04:43:40.752" v="94" actId="14100"/>
          <ac:picMkLst>
            <pc:docMk/>
            <pc:sldMk cId="0" sldId="268"/>
            <ac:picMk id="2050" creationId="{AB455A20-2539-BDFC-1E5A-814ED7265C4C}"/>
          </ac:picMkLst>
        </pc:picChg>
      </pc:sldChg>
      <pc:sldChg chg="del">
        <pc:chgData name="recep öztürk" userId="d7fba041-7d4e-4368-beab-86086909a242" providerId="ADAL" clId="{309C8BC0-029D-58A2-8EF0-19F9291831BA}" dt="2025-12-30T07:50:38.113" v="105" actId="2696"/>
        <pc:sldMkLst>
          <pc:docMk/>
          <pc:sldMk cId="0" sldId="275"/>
        </pc:sldMkLst>
      </pc:sldChg>
      <pc:sldChg chg="modSp mod">
        <pc:chgData name="recep öztürk" userId="d7fba041-7d4e-4368-beab-86086909a242" providerId="ADAL" clId="{309C8BC0-029D-58A2-8EF0-19F9291831BA}" dt="2025-12-30T07:50:21.532" v="104" actId="20577"/>
        <pc:sldMkLst>
          <pc:docMk/>
          <pc:sldMk cId="0" sldId="276"/>
        </pc:sldMkLst>
        <pc:spChg chg="mod">
          <ac:chgData name="recep öztürk" userId="d7fba041-7d4e-4368-beab-86086909a242" providerId="ADAL" clId="{309C8BC0-029D-58A2-8EF0-19F9291831BA}" dt="2025-12-30T07:50:21.532" v="104" actId="20577"/>
          <ac:spMkLst>
            <pc:docMk/>
            <pc:sldMk cId="0" sldId="276"/>
            <ac:spMk id="7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</c:v>
                </c:pt>
              </c:strCache>
            </c:strRef>
          </c:tx>
          <c:spPr>
            <a:solidFill>
              <a:srgbClr val="1F5FB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Dice</c:v>
                </c:pt>
                <c:pt idx="1">
                  <c:v>IoU</c:v>
                </c:pt>
                <c:pt idx="2">
                  <c:v>Precision</c:v>
                </c:pt>
                <c:pt idx="3">
                  <c:v>Recall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0.80589999999999995</c:v>
                </c:pt>
                <c:pt idx="1">
                  <c:v>0.68069999999999997</c:v>
                </c:pt>
                <c:pt idx="2">
                  <c:v>0.81</c:v>
                </c:pt>
                <c:pt idx="3">
                  <c:v>0.80830000000000002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76-AE47-B299-6B5E0DBED7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603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Konuşma akışı:
- Bu sunum hibrit: teoriyi slaytta, uygulamayı notebook üzerinde canlı göstereceğim.
- Problem: retina damar ağını netleştirip segmentasyonla analiz edilebilir hale getirmek.
[Süre] 1–2 dk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Konuşma akışı:
- Klinik motivasyon: damar çıkarımı çoğu retinal analiz işinin giriş kapısı.
- Proje odak: net, ölçülebilir bir pipeline.
[Süre] 2 dk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Konuşma akışı:
- Bu slayt, sunum boyunca göstereceğim bileşenlerin sözleşmesi.
- Ölçülebilirlik: hem segmentasyon metrikleri hem de damar analizi ölçüleri.
[Süre] 2 dk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Konuşma akışı:
- FIVES veri seti: eğitim/test ayrımı net.
- Örnek görüntü üzerinden: damarların inceliği ve kontrast zorluğunu vurgula.
[Süre] 2 dk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Konuşma akışı:
- Bu slayt, hocanın “neden bu kadar zor?” sorusunu peşinen kapatır.
- Buradan literatüre geçiş yapacağız.
[Süre] 2 dk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Konuşma akışı:
- Literatürü 3 aileye ayır ve her birinin trade-off’unu vurgula.
- “Benim seçtiğim nokta”: sağlam baseline + sağlam deney tasarımı.
[Süre] 2–3 dk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Konuşma akışı:
- Son 5 yılda ana kırılma: attention + transformer entegrasyonu.
- Bu projede bilinçli olarak baseline seçtim; amaç: sağlam veri akışı + ölçülebilirlik.
[Süre] 3 dk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Konuşma akışı:
- Ders bağlamı: birçok filtre LSIS → konvolüsyon.
- Bu kavram, hem klasik filtreleri hem de CNN’lerdeki konvolüsyon katmanlarını bağlar.
[Süre] 2–3 dk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Konuşma akışı:
- Teorik köprü: LSIS/konvolüsyon → CNN.
- Non-lineer tarafta morfoloji, retina damarları gibi yapısal örüntülerde kritik.
[Süre] 2 dk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Konuşma akışı:
- Notebook’taki pipeline’ı tek slaytta paketle.
- FOV içi metrik vurgusu: değerlendirmenin adil olması.
[Süre] 2 dk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Konuşma akışı:
- FOV dışı alanlar hem loss’u hem metrikleri bozuyor.
- Crop/resize, gerçek bir “patch training” yapmadan pratik bir denge.
[Süre] 2 dk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Konuşma akışı:
- Augmentation olmazsa U-Net çok hızlı ezberler.
- En kritik kural: image ve mask aynı transform.
[Süre] 1–2 dk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Konuşma akışı:
- U-Net’in “U” yapısı: downsample + upsample + skip.
- İnce damarlar için skip bağlantı argümanı.
[Süre] 3 dk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Konuşma akışı:
- Neden BCE + Dice: dengesizlik + örtüşme.
- FOV içi metrik: değerlendirme adaleti.
[Süre] 2–3 dk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Konuşma akışı:
- Loss düşüşü: öğrenme stabil mi?
- Val Dice/IoU artışı: genelleme sinyali.
[Süre] 2 dk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Konuşma akışı:
- Ortalama metrikler: baseline için güçlü.
- Std var: zor görüntülerde performans düşüyor; bunu görsel hata haritasında göstereceğim.
[Süre] 2 dk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Konuşma akışı:
- GT vs Pred: ana damarlar yakalanıyor mu?
- Hata haritası ile: nerelerde FP/FN artıyor? (ince uçlar, düşük kontrast bölgeler).
[Süre] 3 dk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Konuşma akışı:
- Segmentasyonun downstream faydası: damar ölçüleri.
- Dallanma/iskelet: ince damarları kaçırınca/ekleyince hızlı sapar.
[Süre] 2 dk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Konuşma akışı:
- Sınırlılıkları net söylemek güven yaratır.
- “GT bile tartışmalı” noktası, hocanın itirazlarını önler.
[Süre] 2 dk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Konuşma akışı:
- Bu kısım “araştırma bakışı” gösterir.
- Özellikle boundary-aware ve transformer karşılaştırmasını vurgula.
[Süre] 2 dk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Konuşma akışı:
- 4–5 maddede kapat.
- Son cümle: “Şimdi sorular ve/veya notebook üzerinden ek demo.”
[Süre] 1–2 dk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Konuşma akışı:
- Kapanış. Eğer zaman varsa: threshold hassasiyeti ve zor örnekler üzerinde ek demo.
[Süre] kalan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 err="1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Göz</a:t>
            </a:r>
            <a:r>
              <a:rPr lang="en-US" sz="32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Retinası</a:t>
            </a:r>
            <a:r>
              <a:rPr lang="en-US" sz="32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Görüntülerinde</a:t>
            </a:r>
            <a:endParaRPr lang="en-US" sz="3200" b="1" dirty="0">
              <a:latin typeface="+mj-l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Damar Yapısı Belirginleştirme</a:t>
            </a:r>
            <a:endParaRPr lang="en-US" sz="3200" b="1" dirty="0">
              <a:latin typeface="+mj-l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ve Analizi</a:t>
            </a:r>
            <a:endParaRPr lang="en-US" sz="3200" b="1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5532119"/>
            <a:ext cx="5303520" cy="8686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7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 ÖZTÜRK • 22290380</a:t>
            </a:r>
          </a:p>
          <a:p>
            <a:pPr marL="0" indent="0">
              <a:buNone/>
            </a:pPr>
            <a:endParaRPr lang="en-US" sz="1600" dirty="0">
              <a:solidFill>
                <a:srgbClr val="D7E3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D7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YMH423 Görüntü İşleme Teknikleri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731520"/>
            <a:ext cx="553212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10" name="Resim 9" descr="Astronomi nesnesi, küre, kehribar, güneş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EF56417-9888-4A1E-94AD-6EBCB9E4A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496" y="1103811"/>
            <a:ext cx="4650377" cy="4650377"/>
          </a:xfrm>
          <a:prstGeom prst="rect">
            <a:avLst/>
          </a:prstGeom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2048A7EA-3DA5-CC83-4A72-DA1434A76E8C}"/>
              </a:ext>
            </a:extLst>
          </p:cNvPr>
          <p:cNvSpPr/>
          <p:nvPr/>
        </p:nvSpPr>
        <p:spPr>
          <a:xfrm>
            <a:off x="640080" y="3428999"/>
            <a:ext cx="5303520" cy="8686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tr-TR" sz="2000" dirty="0">
                <a:solidFill>
                  <a:schemeClr val="bg1"/>
                </a:solidFill>
                <a:latin typeface="+mj-lt"/>
              </a:rPr>
              <a:t>U-Net</a:t>
            </a:r>
            <a:r>
              <a:rPr lang="tr-TR" sz="2000" dirty="0">
                <a:solidFill>
                  <a:schemeClr val="bg1"/>
                </a:solidFill>
              </a:rPr>
              <a:t> ile Retina Damar Segmentasyonu ve Temel Damar Analiz Metrikleri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Tanımı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99655" y="128016"/>
            <a:ext cx="4389120" cy="310896"/>
          </a:xfrm>
          <a:prstGeom prst="round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299655" y="1463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 • Giriş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5394960" cy="526694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68680" y="1188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 damarları neden önemli?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4892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Damar yapısı; diyabetik retinopati, hipertansiyon ve glokom gibi hastalıkların erken ipuçlarını taşır.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Damar ağının çıkarımı; lezyonların yerelleştirilmesi ve takip analizleri için temel ön koşuldur.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Amaç: damarları arka plandan ayırmak ve sayısal ölçümlere (yoğunluk, iskelet uzunluğu, dallanma vb.) zemin </a:t>
            </a:r>
            <a:r>
              <a:rPr lang="en-US" sz="16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hazırlamak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1005840"/>
            <a:ext cx="5257800" cy="52669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537960" y="11887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projede ne yapıyorum?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37960" y="1691640"/>
            <a:ext cx="48006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FIVES veri seti üzerinde damar segmentasyonu.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FOV (ROI) maskesi ile retina dışını elemek.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tabanlı baseline model ile maske tahmini.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Dice/IoU/Precision/Recall + damar analizi çıktıları.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 ve Hedefler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99655" y="128016"/>
            <a:ext cx="4389120" cy="310896"/>
          </a:xfrm>
          <a:prstGeom prst="round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299655" y="1463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 • Giriş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10972800" cy="526694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Hedefler (ölçülebilir)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182880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051560" y="20116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Veri &amp; Ön İşleme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4231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FOV/ROI çıkarımı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 merkezli crop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512×512 resize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19792" y="182880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602672" y="20116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Segmentasyon Modeli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02672" y="24231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(baseline)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Kayıp: BCE + Dice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Eşikleme ile maske üretimi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70907" y="182880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8153787" y="20116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Değerlendirme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53787" y="24231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/ IoU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Damar yoğunluğu ve iskelet analizi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Seti: FIVES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91095" y="128016"/>
            <a:ext cx="4297680" cy="310896"/>
          </a:xfrm>
          <a:prstGeom prst="round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391095" y="14630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 • Veri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5806440" cy="525779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FIVES (özet)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5440680" cy="1249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800 retina görüntüsü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eğitim (train/val split)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test (nihai değerlendirme)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görüntü için damar GT maskesi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4160520"/>
            <a:ext cx="5257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005840" y="42793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FIVES?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617720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tarafında da GT olması, başarıyı ölçülebilir ve karşılaştırılabilir kılıyor.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29400" y="1005840"/>
            <a:ext cx="5349240" cy="5257795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858000" y="123444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görüntü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0195560" y="419709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Optik disk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0" name="Resim 19" descr="Astronomi nesnesi, küre, kehribar, dair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036A7A3-192D-0DC9-3FE1-C4D1E3A20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680" y="1677049"/>
            <a:ext cx="3916680" cy="39166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221980" y="3899403"/>
            <a:ext cx="1508760" cy="349200"/>
          </a:xfrm>
          <a:prstGeom prst="roundRect">
            <a:avLst/>
          </a:prstGeom>
          <a:solidFill>
            <a:srgbClr val="118A7E"/>
          </a:solidFill>
          <a:ln w="12700">
            <a:solidFill>
              <a:srgbClr val="118A7E"/>
            </a:solidFill>
            <a:prstDash val="solid"/>
          </a:ln>
        </p:spPr>
        <p:txBody>
          <a:bodyPr/>
          <a:lstStyle/>
          <a:p>
            <a:pPr algn="ctr"/>
            <a:r>
              <a:rPr lang="tr-TR" dirty="0"/>
              <a:t>Optik Disk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Zor? (Segmentasyon Zorlukları)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91095" y="128016"/>
            <a:ext cx="4297680" cy="310896"/>
          </a:xfrm>
          <a:prstGeom prst="round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391095" y="14630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 • Veri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10972800" cy="5257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 damar segmentasyonunu zorlaştıran etkenler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187452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051560" y="2057400"/>
            <a:ext cx="4846320" cy="1249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kontrast ve düzensiz aydınlatma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İnce damarlar (sınıf dengesizliği)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 / bulanıklık / artefakt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Lezyonların damar gibi görünmesi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3492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446520" y="205740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projede alınan önlemler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468880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FOV maskesi ile retina dışını öğrenmeden çıkarmak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+ Dice ile sınıf dengesizliğini dengelemek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ile genelleme artırmak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skor değil: görsel hata haritası ile yorumlamak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Literatür: Yaklaşım Aileleri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99655" y="128016"/>
            <a:ext cx="4389120" cy="310896"/>
          </a:xfrm>
          <a:prstGeom prst="round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299655" y="1463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 • Literatür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10972800" cy="525779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 damar segmentasyonunda ana yaklaşım sınıfları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1828800"/>
            <a:ext cx="3456432" cy="43107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868680" y="1828800"/>
            <a:ext cx="3456432" cy="109728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097280" y="2057400"/>
            <a:ext cx="2999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Filtreleme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468880"/>
            <a:ext cx="29992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filter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detector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ölçekli filtreler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26864" y="1828800"/>
            <a:ext cx="3456432" cy="43107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4626864" y="1828800"/>
            <a:ext cx="3456432" cy="109728"/>
          </a:xfrm>
          <a:prstGeom prst="rect">
            <a:avLst/>
          </a:prstGeom>
          <a:solidFill>
            <a:srgbClr val="118A7E"/>
          </a:solidFill>
          <a:ln w="12700">
            <a:solidFill>
              <a:srgbClr val="118A7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855464" y="2057400"/>
            <a:ext cx="2999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Morfolojik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55464" y="2468880"/>
            <a:ext cx="29992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Top-hat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growing / iskelet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85048" y="1828800"/>
            <a:ext cx="3456432" cy="43107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8385048" y="1828800"/>
            <a:ext cx="3456432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8613648" y="2057400"/>
            <a:ext cx="2999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Öğrenmeye Dayalı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13648" y="2468880"/>
            <a:ext cx="29992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/ SVM (özellik tabanlı)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/ U-Net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+ attention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8680" y="5897880"/>
            <a:ext cx="10744200" cy="4572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1051560" y="5989320"/>
            <a:ext cx="10378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projede: güçlü bir baseline (U-Net) + temiz veri akışı (FOV/crop/resize) + kapsamlı metrik &amp; görsel analiz.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Literatür: Güncel Trendler (Son 5 Yıl)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99655" y="128016"/>
            <a:ext cx="4389120" cy="310896"/>
          </a:xfrm>
          <a:prstGeom prst="round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299655" y="1463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 • Literatür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10972800" cy="5257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 çıkan derin öğrenme eğilimleri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1874520"/>
            <a:ext cx="5303520" cy="427590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051560" y="20574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Trendler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423160"/>
            <a:ext cx="4937760" cy="112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türevleri hâlâ omurga; attention ve multi-scale ile güçleniyor.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(ViT/Swin/MobileViT) ile global bağlam yakalama.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Hafif modeller (mobil/gerçek zaman) ↔ yüksek doğruluk dengesi.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Çapraz veri seti değerlendirme ve genelleme vurgusu.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55080" y="1874520"/>
            <a:ext cx="5257800" cy="427590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537960" y="20574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çalışmalar (seçki)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37960" y="2468880"/>
            <a:ext cx="196596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629400" y="262432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Çalışma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49640" y="2468880"/>
            <a:ext cx="141732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8641080" y="262432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012680" y="2468880"/>
            <a:ext cx="16002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10104120" y="26243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37960" y="3063240"/>
            <a:ext cx="1965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629400" y="317296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LiViT-Net (2024)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49640" y="3063240"/>
            <a:ext cx="1417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8641080" y="3172968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Transformer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012680" y="3063240"/>
            <a:ext cx="1600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10104120" y="317296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Mobil/ince damar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37960" y="3657600"/>
            <a:ext cx="1965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629400" y="376732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TCDDU-Net (2024)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549640" y="3657600"/>
            <a:ext cx="1417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8641080" y="3767328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+ CNN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012680" y="3657600"/>
            <a:ext cx="1600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10104120" y="376732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Dual-path decoding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37960" y="4251960"/>
            <a:ext cx="1965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6629400" y="436168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Attn U-Net (2025)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49640" y="4251960"/>
            <a:ext cx="1417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8641080" y="4361688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+ attention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012680" y="4251960"/>
            <a:ext cx="1600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10104120" y="436168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İnce uçlar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37960" y="4846320"/>
            <a:ext cx="1965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6629400" y="495604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CBAM + Transformer (2024)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549640" y="4846320"/>
            <a:ext cx="1417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8641080" y="4956048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+ fusion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012680" y="4846320"/>
            <a:ext cx="1600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10104120" y="49560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 İşleme Temeli: LSIS ve Konvolüsyon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99655" y="128016"/>
            <a:ext cx="4389120" cy="310896"/>
          </a:xfrm>
          <a:prstGeom prst="round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299655" y="1463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 • Teori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10972800" cy="526694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Shift-Invariant System (LSIS) → Konvolüsyon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1874520"/>
            <a:ext cx="5212080" cy="427590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051560" y="2057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423160"/>
            <a:ext cx="4846320" cy="112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Lineerlik: f(a·x + b·y) = a·f(x) + b·f(y)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Kayma değişmezlik: giriş kayarsa çıktı aynı şekilde kayar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LSIS sistemler 2D konvolüsyon ile uygulanır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Örn: blur, edge detection, sharpening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1874520"/>
            <a:ext cx="5349240" cy="427590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446520" y="205740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Şema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72938" y="2743200"/>
            <a:ext cx="1077686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algn="ctr"/>
            <a:r>
              <a:rPr lang="en-US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</a:t>
            </a:r>
            <a:endParaRPr lang="en-US" dirty="0"/>
          </a:p>
          <a:p>
            <a:pPr algn="ctr"/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I(</a:t>
            </a:r>
            <a:r>
              <a:rPr lang="en-US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x,y</a:t>
            </a: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672938" y="3886200"/>
            <a:ext cx="1077686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algn="ctr"/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dirty="0"/>
          </a:p>
          <a:p>
            <a:pPr algn="ctr"/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</a:t>
            </a:r>
            <a:r>
              <a:rPr lang="en-US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x,y</a:t>
            </a: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419007" y="3411583"/>
            <a:ext cx="1598027" cy="77724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7D7FF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 err="1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Konvolüsyon</a:t>
            </a:r>
            <a:endParaRPr lang="en-US" dirty="0"/>
          </a:p>
          <a:p>
            <a:pPr algn="ctr"/>
            <a:r>
              <a:rPr lang="en-US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(★)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0389324" y="3411583"/>
            <a:ext cx="868684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algn="ctr"/>
            <a:r>
              <a:rPr lang="en-US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</a:t>
            </a:r>
            <a:endParaRPr lang="en-US" dirty="0"/>
          </a:p>
          <a:p>
            <a:pPr algn="ctr"/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Y(</a:t>
            </a:r>
            <a:r>
              <a:rPr lang="en-US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x,y</a:t>
            </a: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7750624" y="3154680"/>
            <a:ext cx="685800" cy="64008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 flipV="1">
            <a:off x="7750624" y="3794760"/>
            <a:ext cx="685800" cy="512064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9999617" y="3794760"/>
            <a:ext cx="41148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6672938" y="5074920"/>
            <a:ext cx="489422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LSIS ⇒ konvolüsyon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(Kernel ile filtreleme)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Lineer ve Non-lineer Filtreler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99655" y="128016"/>
            <a:ext cx="4389120" cy="310896"/>
          </a:xfrm>
          <a:prstGeom prst="round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299655" y="1463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 • Teori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10972800" cy="525779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görüntü işleme: neden hâlâ önemli?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1874520"/>
            <a:ext cx="5349240" cy="427590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051560" y="205740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Lineer filtre örnekleri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42316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 (gürültü azaltma)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 / DoG (kenar vurgulama)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Sharpening (unsharp mask)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55080" y="1874520"/>
            <a:ext cx="5257800" cy="427590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537960" y="20574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Non-lineer filtre örnekleri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42316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(salt &amp; pepper)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Morfolojik işlemler (erosion/dilation)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Opening/closing by reconstruction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5897880"/>
            <a:ext cx="10744200" cy="457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1051560" y="5989320"/>
            <a:ext cx="10378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CNN’ler de konvolüsyon tabanlıdır; yani klasik konvolüsyon kavramı modern derin öğrenmenin de merkezindedir.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 Özeti (Notebook Pipeline)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99655" y="128016"/>
            <a:ext cx="4389120" cy="310896"/>
          </a:xfrm>
          <a:prstGeom prst="round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299655" y="1463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 • Yöntem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10972800" cy="525779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 hattı (uçtan uca)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17716" y="2819402"/>
            <a:ext cx="1429078" cy="77723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5FBF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</a:t>
            </a:r>
            <a:r>
              <a:rPr lang="en-US" sz="16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indirme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6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klasör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tespiti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50275" y="3200400"/>
            <a:ext cx="5029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2149714" y="2819402"/>
            <a:ext cx="1369422" cy="77723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5FBF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↔ GT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19136" y="3211286"/>
            <a:ext cx="5029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011170" y="2819402"/>
            <a:ext cx="1551432" cy="777235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8A7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r>
              <a:rPr lang="en-US" sz="16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işleme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(FOV + crop + resize)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84371" y="3208019"/>
            <a:ext cx="5029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6087291" y="2816356"/>
            <a:ext cx="933995" cy="777235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36307" y="3233057"/>
            <a:ext cx="5029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7539226" y="2818533"/>
            <a:ext cx="1723645" cy="77505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8A7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r>
              <a:rPr lang="en-US" sz="16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(Dice/</a:t>
            </a:r>
            <a:r>
              <a:rPr lang="en-US" sz="16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/PR/RE)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276587" y="3233057"/>
            <a:ext cx="5029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9776023" y="2818533"/>
            <a:ext cx="2220033" cy="77505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5FBF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 &amp; </a:t>
            </a:r>
            <a:r>
              <a:rPr lang="en-US" sz="16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görseller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(overlay + </a:t>
            </a:r>
            <a:r>
              <a:rPr lang="en-US" sz="16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haritası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68680" y="1828800"/>
            <a:ext cx="10744200" cy="7772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1051560" y="2011680"/>
            <a:ext cx="10378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nokta: metrikler yalnızca FOV içinde hesaplanır (retina dışı siyah alanlar değerlendirmeyi bozmasın).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 İşleme: FOV + Crop + Resize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99655" y="128016"/>
            <a:ext cx="4389120" cy="310896"/>
          </a:xfrm>
          <a:prstGeom prst="round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299655" y="1463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 • Yöntem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10972800" cy="522122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Amaç: modeli “retina dışı siyah alanı” öğrenmekten kurtarmak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1874520"/>
            <a:ext cx="5669280" cy="426502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051560" y="2057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Neler yapılıyor?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423160"/>
            <a:ext cx="5303520" cy="112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FOV/ROI maskesi çıkar (retina bölgesi)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 merkezli crop ile boşlukları azalt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512×512 resize: hız ve kaynak sınırları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işlemler GT ile senkron yürür (image–mask hizası bozulmaz)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20840" y="1874520"/>
            <a:ext cx="4892040" cy="426502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903720" y="205740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örnek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7" name="Resim 16" descr="ekran görüntüsü, daire, Astronomi nesnesi, kür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6C50154-193B-0341-3D80-89FC9ACB6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767523"/>
            <a:ext cx="4901475" cy="24790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Artırma (Augmentation)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99655" y="128016"/>
            <a:ext cx="4389120" cy="310896"/>
          </a:xfrm>
          <a:prstGeom prst="round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299655" y="1463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 • Yöntem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10972800" cy="5257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Amaç: genelleme ve overfitting kontrolü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1874520"/>
            <a:ext cx="10515600" cy="4248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051560" y="2148840"/>
            <a:ext cx="10241280" cy="1249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Geometrik: flip, rotate (damar yön bağımsızlığı)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Fotometrik: parlaklık/kontrast (aydınlatma farklılıkları)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Opsiyonel: hafif blur/noise (çekim kalitesi farklılıkları)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Kural: augmentation image ve GT maskeye aynı şekilde uygulanır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5897880"/>
            <a:ext cx="10744200" cy="457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1051560" y="5989320"/>
            <a:ext cx="10378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Pratik: Validasyon metriklerini izleyip augmentation şiddetini “yararlı ama agresif olmayan” seviyede tutuyorum.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U-Net (Baseline)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99655" y="128016"/>
            <a:ext cx="4389120" cy="310896"/>
          </a:xfrm>
          <a:prstGeom prst="round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299655" y="1463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 • Yöntem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10972800" cy="526694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U-Net?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1874521"/>
            <a:ext cx="5440680" cy="42832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051560" y="2057400"/>
            <a:ext cx="5257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Encoder: özellik çıkarımı (konvolüsyon + downsample)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Decoder: uzamsal çözünürlüğü geri kazanma (upsample)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bağlantıları: ince damar detayları için kritik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seçimi: karşılaştırılabilir, anlaşılır, hızlı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37960" y="1874520"/>
            <a:ext cx="5074920" cy="42832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720840" y="205740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U-Net şeması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20840" y="2560320"/>
            <a:ext cx="1508760" cy="50292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7D7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720840" y="268833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464040" y="4343400"/>
            <a:ext cx="150876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9464040" y="447141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Up+Conv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2811780"/>
            <a:ext cx="1234440" cy="178308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6720840" y="3154680"/>
            <a:ext cx="1508760" cy="50292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7D7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720840" y="328269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464040" y="3749040"/>
            <a:ext cx="150876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9464040" y="387705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Up+Conv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0" y="3406140"/>
            <a:ext cx="1234440" cy="59436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6720840" y="3749040"/>
            <a:ext cx="1508760" cy="50292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7D7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6720840" y="387705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64040" y="3154680"/>
            <a:ext cx="150876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9464040" y="328269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Up+Conv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0" y="4000500"/>
            <a:ext cx="123444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6720840" y="4343400"/>
            <a:ext cx="1508760" cy="50292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7D7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6720840" y="447141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464040" y="2560320"/>
            <a:ext cx="150876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9464040" y="268833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Up+Conv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29600" y="4594860"/>
            <a:ext cx="123444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8092440" y="4462272"/>
            <a:ext cx="1737360" cy="5943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8092440" y="46268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20840" y="50749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464040" y="50749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050" name="Picture 2" descr="U-Net: Convolutional Networks for Biomedical Image Segmentation">
            <a:extLst>
              <a:ext uri="{FF2B5EF4-FFF2-40B4-BE49-F238E27FC236}">
                <a16:creationId xmlns:a16="http://schemas.microsoft.com/office/drawing/2014/main" id="{AB455A20-2539-BDFC-1E5A-814ED7265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4523" y="2373969"/>
            <a:ext cx="4877397" cy="3249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Kayıp Fonksiyonu ve Metrikler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99655" y="128016"/>
            <a:ext cx="4389120" cy="310896"/>
          </a:xfrm>
          <a:prstGeom prst="round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299655" y="1463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 • Yöntem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10972800" cy="526694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+ Dice (neden birlikte?)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1874520"/>
            <a:ext cx="56235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051560" y="2057400"/>
            <a:ext cx="5349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BCE: piksel bazlı sınıflama; stabil optimizasyon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Dice: overlap odaklı; sınıf dengesizliğine dayanıklı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Birlikte: hem stabil eğitim hem de damar örtüşmesinde iyileşme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Metrikler FOV içinde hesaplanır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20840" y="1874520"/>
            <a:ext cx="48920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903720" y="205740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Kullanılan metrikler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03720" y="2423160"/>
            <a:ext cx="4526280" cy="1249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03720" y="4251960"/>
            <a:ext cx="4526280" cy="18363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7086600" y="438912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Eşikleme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86600" y="4709160"/>
            <a:ext cx="4160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çıktısı logit → sigmoid → olasılık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 &gt; t ise damar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Süreci: Kayıp ve Validasyon Eğrileri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99655" y="128016"/>
            <a:ext cx="4389120" cy="310896"/>
          </a:xfrm>
          <a:prstGeom prst="round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299655" y="1463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6 • Deney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10972800" cy="5257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dinamikleri (özet)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1828800"/>
            <a:ext cx="5349240" cy="43405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9" name="Image 0" descr="/mnt/data/exports_bundle/figures/train_loss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369820"/>
            <a:ext cx="5166360" cy="3444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0" y="1828800"/>
            <a:ext cx="5212080" cy="43405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11" name="Image 1" descr="/mnt/data/exports_bundle/figures/val_metrics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415540"/>
            <a:ext cx="5029200" cy="33528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Sonuçları (Özet Metrikler)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99655" y="128016"/>
            <a:ext cx="4389120" cy="310896"/>
          </a:xfrm>
          <a:prstGeom prst="round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299655" y="1463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6 • Deney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10972800" cy="526694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seti ortalama metrikleri</a:t>
            </a:r>
            <a:endParaRPr lang="en-US" sz="2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68680" y="1874520"/>
          <a:ext cx="649224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543800" y="1874520"/>
            <a:ext cx="4069080" cy="4334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7726680" y="20574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yorum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26680" y="2423160"/>
            <a:ext cx="370332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≈ 0.81 (±0.08)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 ≈ 0.68 (±0.09)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ve Recall dengeli: aşırı under/over-segmentation yok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Dağılım (std) görüntü kalitesi ve damar yoğunluğuna duyarlı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Sonuçlar: GT / Tahmin / Hata Haritası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99655" y="128016"/>
            <a:ext cx="4389120" cy="310896"/>
          </a:xfrm>
          <a:prstGeom prst="round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299655" y="1463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6 • Deney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10972800" cy="526694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örnek üzerinde kalite analizi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640080" y="5998461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TP=Yeşil • FP=Kırmızı • FN=Mavi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4" name="Resim 23" descr="ekran görüntüsü, güneş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D9A4761-8ED6-462B-163A-4FB96BA66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06" y="1783081"/>
            <a:ext cx="2725004" cy="2846792"/>
          </a:xfrm>
          <a:prstGeom prst="rect">
            <a:avLst/>
          </a:prstGeom>
        </p:spPr>
      </p:pic>
      <p:pic>
        <p:nvPicPr>
          <p:cNvPr id="26" name="Resim 25" descr="ekran görüntüsü, renklili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6301E08-7001-017B-1CB6-9A6B2D85CB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8261" y="1783080"/>
            <a:ext cx="2732311" cy="2846793"/>
          </a:xfrm>
          <a:prstGeom prst="rect">
            <a:avLst/>
          </a:prstGeom>
        </p:spPr>
      </p:pic>
      <p:pic>
        <p:nvPicPr>
          <p:cNvPr id="28" name="Resim 27" descr="ekran görüntüsü, renklili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23E7910-E4D0-202E-AFF5-B62B56AAE2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0572" y="1783079"/>
            <a:ext cx="2728152" cy="2842460"/>
          </a:xfrm>
          <a:prstGeom prst="rect">
            <a:avLst/>
          </a:prstGeom>
        </p:spPr>
      </p:pic>
      <p:pic>
        <p:nvPicPr>
          <p:cNvPr id="30" name="Resim 29" descr="ekran görüntüsü, renklilik, hafif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84543E3-01BD-539C-9607-C73AFAC281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4027" y="1778746"/>
            <a:ext cx="2732311" cy="284679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Damar Analizi: GT vs Tahmin (Ölçümler)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99655" y="128016"/>
            <a:ext cx="4389120" cy="310896"/>
          </a:xfrm>
          <a:prstGeom prst="round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299655" y="1463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6 • Deney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10972800" cy="525779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Segmentasyon sonrası: basit damar ölçüleri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1874520"/>
            <a:ext cx="5669280" cy="429478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051560" y="2057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Ölçülen örnek metrikler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423160"/>
            <a:ext cx="5303520" cy="112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density (damar piksel oranı)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length (iskelet uzunluğu)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count (dallanma sayısı)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Amaç: sadece “maske” değil, analiz edilebilir damar ağı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20840" y="1874520"/>
            <a:ext cx="4892040" cy="429478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903720" y="205740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eğilim (200 test görüntüsü)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03720" y="242316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Yoğunluk farkı genelde küçük (± birkaç % puan).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İskelet/dallanma: ince damar/artefaktlara daha hassas.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nedenle görsel denetim şart (error map).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03720" y="557784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Bu ölçümler exports_bundle/tables/vessel_analysis_gt_vs_pred.csv’den üretilmiştir.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Notlar ve Sınırlılıklar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99655" y="128016"/>
            <a:ext cx="4389120" cy="310896"/>
          </a:xfrm>
          <a:prstGeom prst="round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299655" y="1463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8 • Tartışma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10972800" cy="522122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projede gerçekçi sınırlar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1874520"/>
            <a:ext cx="10515600" cy="42369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051560" y="2148840"/>
            <a:ext cx="10241280" cy="1249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anotasyonlarında ince damarlar eksik/ambiguous olabilir → model “fazla damar” çizince FP artar.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eşik (threshold) tüm görüntülerde optimal olmayabilir.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 görüntüler: düşük kontrast, lezyonlar, blur → hata artar.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yüzden: sadece skor değil, hata haritası + damar analizi ile yorumlamak gerekir.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Geliştirme Fikirleri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99655" y="128016"/>
            <a:ext cx="4389120" cy="310896"/>
          </a:xfrm>
          <a:prstGeom prst="round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299655" y="1463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8 • Tartışma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10972800" cy="522122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sonraki </a:t>
            </a:r>
            <a:r>
              <a:rPr lang="en-US" sz="22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seviye</a:t>
            </a: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1874520"/>
            <a:ext cx="10515600" cy="42369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051560" y="2148840"/>
            <a:ext cx="10241280" cy="149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Attention U-Net / Transformer tabanlı hafif mimariler ile karşılaştırma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Focal + Dice, boundary-aware loss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Post-process: skeleton temizleme, küçük bileşen filtreleme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görevler: A/V sınıflaması, tortuozite ve çap ölçümü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Genelleme: farklı veri setlerinde (DRIVE/STARE/CHASE/HRF) transfer deneyi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99655" y="128016"/>
            <a:ext cx="4389120" cy="310896"/>
          </a:xfrm>
          <a:prstGeom prst="round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299655" y="1463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9 • Kapanış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10972800" cy="520293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68680" y="1874520"/>
            <a:ext cx="10515600" cy="42369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051560" y="214884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FIVES üzerinde uçtan uca damar segmentasyon pipeline’ı kuruldu.</a:t>
            </a:r>
            <a:endParaRPr lang="en-US" sz="1800" dirty="0"/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FOV/crop/resize ile eğitim ve değerlendirme daha stabil hale getirildi.</a:t>
            </a:r>
            <a:endParaRPr lang="en-US" sz="1800" dirty="0"/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baseline ile testte Dice ≈ 0.81, IoU ≈ 0.68.</a:t>
            </a:r>
            <a:endParaRPr lang="en-US" sz="1800" dirty="0"/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analiz (overlay + error map) ile hatalar yorumlandı.</a:t>
            </a:r>
            <a:endParaRPr lang="en-US" sz="1800" dirty="0"/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Segmentasyon çıktıları damar analizi ölçümlerine temel oluşturdu.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56032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2176</Words>
  <Application>Microsoft Macintosh PowerPoint</Application>
  <PresentationFormat>Geniş ekran</PresentationFormat>
  <Paragraphs>285</Paragraphs>
  <Slides>22</Slides>
  <Notes>22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recep öztürk</cp:lastModifiedBy>
  <cp:revision>2</cp:revision>
  <dcterms:created xsi:type="dcterms:W3CDTF">2025-12-30T01:51:41Z</dcterms:created>
  <dcterms:modified xsi:type="dcterms:W3CDTF">2025-12-30T07:50:40Z</dcterms:modified>
</cp:coreProperties>
</file>